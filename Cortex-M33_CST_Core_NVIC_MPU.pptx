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03120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 Cortex-M33 Architecture &amp; CST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292608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1D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• NVIC • MPU  |  Register-level operation + ví dụ cấu hình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3749040"/>
            <a:ext cx="5120640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3931920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liệu: Cortex-M33 TRM (100230) + Generic User Guide (100235) + CST/STL scope (file 1.pdf)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320"/>
          </a:solidFill>
          <a:ln w="12700">
            <a:solidFill>
              <a:srgbClr val="0B13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 &amp; tài liệu tham chiếu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804672"/>
            <a:ext cx="1920240" cy="347472"/>
          </a:xfrm>
          <a:prstGeom prst="round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68680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5669280" cy="512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Giới thiệu kiến trúc tổng quan Cortex‑M33 (Armv8‑M Main + các extension tùy chọn).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Scope CST: Core, NVIC, MPU (phụ thuộc cấu hình SoC).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Cho từng phần CST: phạm vi + khác biệt giữa Arm generic vs Renesas device.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Giải thích operation ở mức register: bitfield, cấu hình từng bit, ví dụ (CMSIS/C).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92240" y="1078992"/>
            <a:ext cx="5120640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20840" y="12344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liệu chính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720840" y="1600200"/>
            <a:ext cx="466344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Arm Cortex‑M33 TRM (100230_0100_08_en)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Arm Cortex‑M33 Devices Generic User Guide (100235_0100_06_en)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CST/STL scope &amp; API usage (file 1.pdf)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chú: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Các tham số “implementation-defined” (số IRQ, số bit priority, số MPU region, TrustZone/SAU…) do vendor (Renesas) quyết định.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658368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Cortex‑M33 | CST overview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320"/>
          </a:solidFill>
          <a:ln w="12700">
            <a:solidFill>
              <a:srgbClr val="0B13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quan Cortex‑M33 trong hệ thống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804672"/>
            <a:ext cx="1920240" cy="347472"/>
          </a:xfrm>
          <a:prstGeom prst="round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68680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585216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3716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 dụ system (TRM Figure 1‑1)</a:t>
            </a:r>
            <a:endParaRPr lang="en-US" sz="1400" dirty="0"/>
          </a:p>
        </p:txBody>
      </p:sp>
      <p:pic>
        <p:nvPicPr>
          <p:cNvPr id="8" name="Image 0" descr="/mnt/data/cortex_m33_slide_assets/trm_p09_fig1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3807" y="1691640"/>
            <a:ext cx="3533267" cy="45720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583680" y="1234440"/>
            <a:ext cx="5074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chính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583680" y="1545336"/>
            <a:ext cx="5074920" cy="4855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Core Armv8‑M: Thumb‑2 (T32), 3‑stage pipeline Harvard; hỗ trợ dual‑issue một số cặp lệnh 16‑bit.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Tích hợp chặt NVIC để giảm interrupt latency (stacking/unstacking phần cứng, tail‑chaining, late‑arrival).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Buses: C‑AHB (Code), S‑AHB (System), D‑AHB (debug), PPB/EPPB cho SCS &amp; CoreSight.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Tùy chọn: TrustZone (Security Extension), MPU (MPU_S/MPU_NS), SAU, FPU, debug/trace blocks.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658368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TRM: Example processor system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320"/>
          </a:solidFill>
          <a:ln w="12700">
            <a:solidFill>
              <a:srgbClr val="0B13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 khối chức năng và vị trí CST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804672"/>
            <a:ext cx="1920240" cy="347472"/>
          </a:xfrm>
          <a:prstGeom prst="round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68680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diagram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740664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371600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TRM Figure 1‑2: Functional block diagram</a:t>
            </a:r>
            <a:endParaRPr lang="en-US" sz="1400" dirty="0"/>
          </a:p>
        </p:txBody>
      </p:sp>
      <p:pic>
        <p:nvPicPr>
          <p:cNvPr id="8" name="Image 0" descr="/mnt/data/cortex_m33_slide_assets/trm_p12_fig1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31047" y="1691640"/>
            <a:ext cx="3533267" cy="45720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138160" y="1234440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CST focus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138160" y="1545336"/>
            <a:ext cx="3520440" cy="4855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Core (CPU/ALU + core registers)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NVIC (interrupt controller)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MPU (PMSA regions, attributes)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Các block debug/trace (DWT/ITM/ETM/MTB) thường *không* nằm trong CST/STL runtime.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658368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TRM: optional/fixed component blocks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320"/>
          </a:solidFill>
          <a:ln w="12700">
            <a:solidFill>
              <a:srgbClr val="0B13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Implementation-defined: những thứ vendor quyết định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804672"/>
            <a:ext cx="1920240" cy="347472"/>
          </a:xfrm>
          <a:prstGeom prst="round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68680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612648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37160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TRM: bảng options (ví dụ)</a:t>
            </a:r>
            <a:endParaRPr lang="en-US" sz="1400" dirty="0"/>
          </a:p>
        </p:txBody>
      </p:sp>
      <p:pic>
        <p:nvPicPr>
          <p:cNvPr id="8" name="Image 0" descr="/mnt/data/cortex_m33_slide_assets/trm_p10_cfg_op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5425" y="1691640"/>
            <a:ext cx="3532909" cy="45720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903720" y="123444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Ảnh hưởng tới CST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903720" y="1545336"/>
            <a:ext cx="4754880" cy="4855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Số lượng IRQ: 1…480; mapping có thể liên tục hoặc không liên tục.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Số bit priority implement: 3…8 bits ⇒ 8…256 mức priority thực.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MPU: 0/4/8/12/16 region (NS và S có thể khác nếu có TrustZone).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SAU: 0/4/8 region (chỉ khi có Security Extension).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Debug/trace blocks có/không có tùy theo cấu hình.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=&gt; Khi so sánh ARM vs Renesas: khác biệt chủ yếu nằm ở *cấu hình &amp; integration*, không phải ISA.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658368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TRM: processor configuration options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320"/>
          </a:solidFill>
          <a:ln w="12700">
            <a:solidFill>
              <a:srgbClr val="0B13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Programmer’s model: mode/privilege &amp; core registers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804672"/>
            <a:ext cx="1920240" cy="347472"/>
          </a:xfrm>
          <a:prstGeom prst="round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68680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603504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37160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DGUG Figure 2‑1: Core registers (không TrustZone)</a:t>
            </a:r>
            <a:endParaRPr lang="en-US" sz="1400" dirty="0"/>
          </a:p>
        </p:txBody>
      </p:sp>
      <p:pic>
        <p:nvPicPr>
          <p:cNvPr id="8" name="Image 0" descr="/mnt/data/cortex_m33_slide_assets/dgug_p19_fig2_1_core_re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5247" y="1691640"/>
            <a:ext cx="3533267" cy="45720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12280" y="123444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Khái niệm cần nắm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812280" y="1545336"/>
            <a:ext cx="4846320" cy="4855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 mode: Thread (app) và Handler (ISR/exception).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 privilege: Privileged / Unprivileged (Thread mode). Handler luôn privileged.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 stack pointers: MSP (main) và PSP (process). CONTROL.SPSEL chọn stack trong Thread mode.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Các “mask registers”: PRIMASK / FAULTMASK / BASEPRI điều khiển việc mask interrupt/exception.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658368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DGUG: core registers overview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320"/>
          </a:solidFill>
          <a:ln w="12700">
            <a:solidFill>
              <a:srgbClr val="0B13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TrustZone (Security Extension): banked registers &amp; 2 MPUs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804672"/>
            <a:ext cx="1920240" cy="347472"/>
          </a:xfrm>
          <a:prstGeom prst="round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68680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603504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37160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DGUG Figure 2‑2: Core registers (có TrustZone)</a:t>
            </a:r>
            <a:endParaRPr lang="en-US" sz="1400" dirty="0"/>
          </a:p>
        </p:txBody>
      </p:sp>
      <p:pic>
        <p:nvPicPr>
          <p:cNvPr id="8" name="Image 0" descr="/mnt/data/cortex_m33_slide_assets/dgug_p20_fig2_2_core_regs_se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5247" y="1691640"/>
            <a:ext cx="3533267" cy="45720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12280" y="123444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Điểm khác (ARM generic)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812280" y="1545336"/>
            <a:ext cx="4846320" cy="4855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 Security state: Secure / Non-secure; mỗi state có Thread/Handler riêng.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Nhiều register “banked”: MSP/PSP, CONTROL, PRIMASK/BASEPRI/FAULTMASK, MSPLIM/PSPLIM…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Memory protection: SAU + IDAU phân vùng Secure/NS/NSC; MPU_S &amp; MPU_NS áp chính sách khác nhau.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NVIC có ITNS để gán interrupt target Secure/Non-secure (NS access có thể RAZ/WI nếu IRQ là Secure).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658368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DGUG: Security Extension effects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320"/>
          </a:solidFill>
          <a:ln w="12700">
            <a:solidFill>
              <a:srgbClr val="0B13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map &amp; vị trí NVIC/MPU (SCS/PPB)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804672"/>
            <a:ext cx="1920240" cy="347472"/>
          </a:xfrm>
          <a:prstGeom prst="round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68680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658368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371600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DGUG Figure 2‑3: Cortex‑M33 memory map</a:t>
            </a:r>
            <a:endParaRPr lang="en-US" sz="1400" dirty="0"/>
          </a:p>
        </p:txBody>
      </p:sp>
      <p:pic>
        <p:nvPicPr>
          <p:cNvPr id="8" name="Image 0" descr="/mnt/data/cortex_m33_slide_assets/dgug_p35_fig2_3_mem_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5287" y="1691640"/>
            <a:ext cx="3533267" cy="45720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60920" y="1234440"/>
            <a:ext cx="4251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Liên hệ CST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360920" y="1545336"/>
            <a:ext cx="4251960" cy="4855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SCS/NVIC/MPU/SAU nằm trong PPB: 0xE000_0000…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PPB là Device memory, privileged-only (mặc định).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CST thao tác chủ yếu qua memory-mapped registers ở vùng này.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Vector table (VTOR) + cấu hình exception/interrupt cũng nằm trong SCS.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658368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DGUG: memory map &amp; PPB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320"/>
          </a:solidFill>
          <a:ln w="12700">
            <a:solidFill>
              <a:srgbClr val="0B13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CST (Core, NVIC, MPU) “phụ thuộc kiến trúc” nghĩa là gì?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804672"/>
            <a:ext cx="1920240" cy="347472"/>
          </a:xfrm>
          <a:prstGeom prst="round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68680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5715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Cách hiểu thực dụng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545336"/>
            <a:ext cx="5715000" cy="4855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Arm kiến trúc định nghĩa *programmer’s model* + các core peripherals (NVIC, MPU, SysTick, SCB…).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SoC vendor (Renesas) quyết định: có TrustZone/SAU hay không, số MPU regions, số IRQs, số bits priority…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Vì vậy scope CST phải “bám” theo cấu hình thực tế của device: những khối không implement thì không test/không cấu hình.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Trong “file 1.pdf”, STL/CST API tập trung vào Core + NVIC + MPU (debug/trace excluded).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92240" y="1234440"/>
            <a:ext cx="512064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20840" y="137160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của slide này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720840" y="1737360"/>
            <a:ext cx="46634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Core/CPU/ALU: register model, privilege/mask, exception entry/exit.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NVIC: enable/disable, pending/active, priority grouping, Secure/NS targeting.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MPU: region layout, permission, XN, attributes (MAIR), enable sequence.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phần có: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Scope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Deviation ARM vs Renesas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Operation + ví dụ cấu hình register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658368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CST scope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320"/>
          </a:solidFill>
          <a:ln w="12700">
            <a:solidFill>
              <a:srgbClr val="0B13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CORE: CPU pipeline, exception entry/return, và “ALU”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804672"/>
            <a:ext cx="1920240" cy="347472"/>
          </a:xfrm>
          <a:prstGeom prst="round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68680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 (high-level)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545336"/>
            <a:ext cx="5943600" cy="4855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Pipeline: in-order, 3-stage Harvard; một số cặp lệnh 16-bit có thể dual-issue (tăng throughput).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Instruction set: Thumb-2 (T32). ALU thực thi các lệnh arithmetic/logic/shift, update flags trong APSR.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Exception entry: HW tự động “stack” context (R0-R3,R12,LR,PC,xPSR) + fetch vector song song ⇒ latency thấp.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Tail-chaining &amp; late-arrival: giảm overhead khi back-to-back interrupts.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CST góc nhìn: verify core register path + flag behavior + masking behavior (PRIMASK/BASEPRI/FAULTMASK).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720840" y="1234440"/>
            <a:ext cx="489204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0" y="137160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Gợi ý: “ALU” trong CST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949440" y="1691640"/>
            <a:ext cx="448056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có “ALU register” riêng.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 kiểm chứng ALU thông qua: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Kết quả tính toán ở GPRs (R0-R12)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Condition flags trong APSR: N,Z,C,V,Q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Một số DSP flags (GE[3:0]) nếu DSP ext có.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 dụ test: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ADDS/SUBS cập nhật N/Z/C/V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TST/TEQ cập nhật Z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658368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operation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320"/>
          </a:solidFill>
          <a:ln w="12700">
            <a:solidFill>
              <a:srgbClr val="0B13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CORE: các thanh ghi thường dùng trong CST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804672"/>
            <a:ext cx="1920240" cy="347472"/>
          </a:xfrm>
          <a:prstGeom prst="round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68680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5989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thanh ghi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545336"/>
            <a:ext cx="5989320" cy="4855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GPR: R0–R12 (data path).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SP/LR/PC: MSP/PSP (stack), LR (return), PC (flow).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xPSR: APSR(IPSR/EPSR) ⇒ flags + exception number + IT/ICI state.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CONTROL: chọn stack (SPSEL), privilege (nPRIV), trạng thái FP (FPCA/SFPA).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PRIMASK/BASEPRI/FAULTMASK: mask/mức ưu tiên của exception/interrupt.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MSPLIM/PSPLIM: stack limit checking (nếu implement).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720840" y="1234440"/>
            <a:ext cx="4892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 ARM vs Renesas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720840" y="1545336"/>
            <a:ext cx="4892040" cy="4855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Arm define semantics; Renesas quyết định có/không TrustZone ⇒ các register có thể banked (S/NS).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FPU/DSP extension ảnh hưởng: CONTROL.FPCA/SFPA, APSR.GE/Q…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Một số reset value / availability tùy SoC integration (tham khảo Renesas HW UM).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658368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register scope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320"/>
          </a:solidFill>
          <a:ln w="12700">
            <a:solidFill>
              <a:srgbClr val="0B13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CORE: CONTROL register (Thread mode)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804672"/>
            <a:ext cx="1920240" cy="347472"/>
          </a:xfrm>
          <a:prstGeom prst="round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68680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Bitfield quan trọng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545336"/>
            <a:ext cx="5669280" cy="4855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nPRIV (bit0): 0=privileged, 1=unprivileged (chỉ đổi được khi privileged).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SPSEL (bit1): 0 dùng MSP, 1 dùng PSP (chỉ có ý nghĩa ở Thread mode).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FPCA (bit2): 1 nếu floating-point context active (nếu có FPU).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SFPA (bit3): FP regs thuộc Secure state (RAZ/WI từ Non-secure).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Lưu ý bắt buộc: sau khi MSR CONTROL, phải ISB để đảm bảo hiệu lực.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46520" y="1234440"/>
            <a:ext cx="5166360" cy="23317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11112" y="1344168"/>
            <a:ext cx="4837176" cy="2112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include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"cmsis_gcc.h"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hoặc core_cm33.h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inline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use_psp_unpriv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uint32_t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psp_top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__set_PSP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psp_top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__set_CONTROL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1u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&lt;&lt;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/*SPSEL*/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1u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&lt;&lt;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/*nPRIV*/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__ISB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bắt buộc sau đổi CONTROL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46520" y="3703320"/>
            <a:ext cx="5166360" cy="2697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0" y="384048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Kịch bản dùng trong CST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675120" y="4160520"/>
            <a:ext cx="470916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Test privilege separation: set nPRIV=1, verify unprivileged cannot write SCS registers.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Switch MSP/PSP để test stack path + stack limit (nếu có).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Nếu có TrustZone: thực hiện ở cả Secure và Non-secure Thread mode (CONTROL_S/CONTROL_NS).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658368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usage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320"/>
          </a:solidFill>
          <a:ln w="12700">
            <a:solidFill>
              <a:srgbClr val="0B13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CORE: PRIMASK, BASEPRI, FAULTMASK (interrupt/exception masking)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804672"/>
            <a:ext cx="1920240" cy="347472"/>
          </a:xfrm>
          <a:prstGeom prst="round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68680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Ý nghĩa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545336"/>
            <a:ext cx="5852160" cy="4855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PRIMASK.PM=1: mask tất cả exception có programmable priority (thường là IRQ). NMI/HardFault vẫn có thể xảy ra.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BASEPRI: đặt “ngưỡng” priority. IRQ có priority *&gt;= BASEPRI* (số lớn hơn = thấp hơn) sẽ bị mask.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FAULTMASK.FM=1: mask hầu hết exception, chỉ còn NMI (và có thể Secure HardFault tùy cấu hình).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Trong TrustZone: PRIMASK/BASEPRI/FAULTMASK có bản S và NS; AIRCR.PRIS ảnh hưởng mapping ưu tiên NS.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37960" y="1234440"/>
            <a:ext cx="5074920" cy="28346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02552" y="1344168"/>
            <a:ext cx="4745736" cy="2615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PRIMASK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__disable_irq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CPSID i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critical section...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__enable_irq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CPSIE i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BASEPRI: ví dụ mask mọi IRQ priority &gt;= 0x40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__set_BASEPRI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0x40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__DSB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__ISB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FAULTMASK: cực đoan, thường chỉ dùng trong very-low-level fault handling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__set_FAULTMASK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__DSB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__ISB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537960" y="4206240"/>
            <a:ext cx="5074920" cy="219456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0" y="4343400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“priority value”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766560" y="4663440"/>
            <a:ext cx="46177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2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Trong NVIC_IPR, số *nhỏ* hơn = priority *cao* hơn. BASEPRI cũng theo logic này. Lưu ý số bit priority thực tế (3…8) do vendor implement.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658368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registers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320"/>
          </a:solidFill>
          <a:ln w="12700">
            <a:solidFill>
              <a:srgbClr val="0B13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ALU: APSR flags (N,Z,C,V,Q,GE) và cách kiểm chứng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804672"/>
            <a:ext cx="1920240" cy="347472"/>
          </a:xfrm>
          <a:prstGeom prst="round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68680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thường dùng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545336"/>
            <a:ext cx="5943600" cy="4855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 (bit31): Negative; Z (bit30): Zero; C (bit29): Carry/borrow; V (bit28): Overflow.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 (bit27): DSP overflow/saturation (khi có DSP extension).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GE[3:0] (bits19:16): “Greater-or-Equal” flags cho một số SIMD/DSP ops.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Các lệnh “...S” (ADDS, SUBS, ANDS, ORRS, TST, CMP, ...) cập nhật APSR.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46520" y="1234440"/>
            <a:ext cx="5166360" cy="29718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11112" y="1344168"/>
            <a:ext cx="4837176" cy="2752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uint32_t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0x7FFFFFFFu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1u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uint32_t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__asm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volatile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"adds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  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 = a + b, update NZCV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"=r"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"cc"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uint32_t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apsr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__get_APSR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Expect: V=1 (signed overflow), N=1, Z=0, C=0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46520" y="4343400"/>
            <a:ext cx="516636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0" y="448056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CST note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4800600"/>
            <a:ext cx="47091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3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Test case nên cover: carry, borrow, overflow, zero, negative.</a:t>
            </a:r>
            <a:endParaRPr lang="en-US" sz="12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3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Nếu enable DSP ext: thêm saturating ops để set Q/GE.</a:t>
            </a:r>
            <a:endParaRPr lang="en-US" sz="123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3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Kết hợp với fault/exception masking để đảm bảo deterministic behavior.</a:t>
            </a:r>
            <a:endParaRPr lang="en-US" sz="1230" dirty="0"/>
          </a:p>
        </p:txBody>
      </p:sp>
      <p:sp>
        <p:nvSpPr>
          <p:cNvPr id="13" name="Shape 11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658368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 flags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320"/>
          </a:solidFill>
          <a:ln w="12700">
            <a:solidFill>
              <a:srgbClr val="0B13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NVIC: tổng quan hoạt động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804672"/>
            <a:ext cx="1920240" cy="347472"/>
          </a:xfrm>
          <a:prstGeom prst="round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68680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NVIC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6126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NVIC làm gì?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545336"/>
            <a:ext cx="6126480" cy="4855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Quản lý IRQ external + exceptions: enable/disable, pending/active, priority.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Preemption: dựa trên priority (và priority grouping trong SCB-&gt;AIRCR).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Tối ưu latency: hardware stacking, tail‑chaining, late‑arrival.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TrustZone: ITNS gán target Non-secure; Secure interrupt có thể ưu tiên cao hơn NS.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12280" y="1234440"/>
            <a:ext cx="480060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0" y="137160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machine (concept)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040880" y="1691640"/>
            <a:ext cx="43891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8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Inactive → Pending → Active</a:t>
            </a:r>
            <a:endParaRPr lang="en-US" sz="12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8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^         |        |</a:t>
            </a:r>
            <a:endParaRPr lang="en-US" sz="12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8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      v        v</a:t>
            </a:r>
            <a:endParaRPr lang="en-US" sz="12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8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(clear)  Active+Pending</a:t>
            </a:r>
            <a:endParaRPr lang="en-US" sz="1280" dirty="0"/>
          </a:p>
          <a:p>
            <a:pPr indent="0" marL="0">
              <a:lnSpc>
                <a:spcPct val="118000"/>
              </a:lnSpc>
              <a:buNone/>
            </a:pPr>
            <a:endParaRPr lang="en-US" sz="12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8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 liên quan:</a:t>
            </a:r>
            <a:endParaRPr lang="en-US" sz="12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8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ISER/ICER: enable</a:t>
            </a:r>
            <a:endParaRPr lang="en-US" sz="12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8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ISPR/ICPR: pending</a:t>
            </a:r>
            <a:endParaRPr lang="en-US" sz="12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8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IABR: active</a:t>
            </a:r>
            <a:endParaRPr lang="en-US" sz="128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8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IPR: priority</a:t>
            </a:r>
            <a:endParaRPr lang="en-US" sz="1280" dirty="0"/>
          </a:p>
        </p:txBody>
      </p:sp>
      <p:sp>
        <p:nvSpPr>
          <p:cNvPr id="11" name="Shape 9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658368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NVIC overview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320"/>
          </a:solidFill>
          <a:ln w="12700">
            <a:solidFill>
              <a:srgbClr val="0B13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NVIC: register map &amp; nhóm thanh ghi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804672"/>
            <a:ext cx="1920240" cy="347472"/>
          </a:xfrm>
          <a:prstGeom prst="round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68680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NVIC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722376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371600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DGUG Table 4‑35: NVIC registers summary (trích)</a:t>
            </a:r>
            <a:endParaRPr lang="en-US" sz="1400" dirty="0"/>
          </a:p>
        </p:txBody>
      </p:sp>
      <p:pic>
        <p:nvPicPr>
          <p:cNvPr id="8" name="Image 0" descr="/mnt/data/cortex_m33_slide_assets/dgug_p267_nvic_summ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3887" y="1691640"/>
            <a:ext cx="3533267" cy="45720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909560" y="1234440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note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909560" y="1545336"/>
            <a:ext cx="3703320" cy="4855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Nếu có TrustZone: IRQ được đánh dấu Secure trong ITNS ⇒ Non-secure access tới ISER/ICER/ISPR/ICPR/IABR/IPR cho IRQ đó sẽ RAZ/WI.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ICTR.INTLINESNUM phản ánh số “interrupt lines” implement (mỗi line = 32 IRQ).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STIR cho phép trigger IRQ bằng software (privileged).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658368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NVIC register summary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320"/>
          </a:solidFill>
          <a:ln w="12700">
            <a:solidFill>
              <a:srgbClr val="0B13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NVIC: sequence cấu hình interrupt (thực tế)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804672"/>
            <a:ext cx="1920240" cy="347472"/>
          </a:xfrm>
          <a:prstGeom prst="round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68680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NVIC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Best-practice sequence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545336"/>
            <a:ext cx="5852160" cy="4855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1) Cập nhật vector table entry (handler address) và/hoặc VTOR (nếu relocate).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2) DMB để đảm bảo vector được ghi xong trước khi enable IRQ.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3) Set priority (NVIC_SetPriority).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4) Clear pending (NVIC_ClearPendingIRQ).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5) Enable (NVIC_EnableIRQ).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46520" y="1234440"/>
            <a:ext cx="5166360" cy="3154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11112" y="1344168"/>
            <a:ext cx="4837176" cy="29352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CMSIS style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extern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MY_IRQHandler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nvic_setup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IRQn_Type irqn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(1) nếu đổi VTOR hoặc vector table: làm trước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SCB-&gt;VTOR = (uint32_t)vector_table_base;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vector_table[16 + irqn] = (uint32_t)MY_IRQHandler;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__DMB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(2) đảm bảo vector update hoàn tất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NVIC_SetPriority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irqn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0x40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(3)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NVIC_ClearPendingIRQ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irqn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(4)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NVIC_EnableIRQ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irqn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(5)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46520" y="4526280"/>
            <a:ext cx="5166360" cy="1874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0" y="466344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Tại sao cần DMB?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4983480"/>
            <a:ext cx="47091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2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Nếu IRQ được enable ngay sau khi cập nhật vector, DMB đảm bảo CPU không lấy vector cũ khi interrupt xảy ra tức thì.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658368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NVIC configuration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320"/>
          </a:solidFill>
          <a:ln w="12700">
            <a:solidFill>
              <a:srgbClr val="0B13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NVIC: Software Trigger Interrupt (STIR)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804672"/>
            <a:ext cx="1920240" cy="347472"/>
          </a:xfrm>
          <a:prstGeom prst="round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68680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NVIC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Khi nào dùng STIR?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545336"/>
            <a:ext cx="5852160" cy="4855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Self-test / diagnostic: tạo pending cho một IRQ để test tuyến xử lý (handler + priority + masking).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Inter-processor / software event: giả lập “interrupt-like” event.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Lưu ý: STIR thường privileged; mapping IRQn phải đúng theo SoC.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46520" y="1234440"/>
            <a:ext cx="5166360" cy="23317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11112" y="1344168"/>
            <a:ext cx="4837176" cy="2112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Trigger IRQn bằng phần mềm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nvic_sw_trigger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IRQn_Type irqn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IRQ phải được enable trước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NVIC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STIR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uint32_t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irqn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0x1FFu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field INTID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46520" y="3703320"/>
            <a:ext cx="5166360" cy="26974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0" y="3840480"/>
            <a:ext cx="4709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TrustZone note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4160520"/>
            <a:ext cx="47091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2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Nếu IRQ target Secure (ITNS bit=0), Non-secure software có thể không trigger được hoặc bị RAZ/WI tùy register/path. Khi test, xác định target trước.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658368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STIR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320"/>
          </a:solidFill>
          <a:ln w="12700">
            <a:solidFill>
              <a:srgbClr val="0B13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MPU: tổng quan (PMSA)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804672"/>
            <a:ext cx="1920240" cy="347472"/>
          </a:xfrm>
          <a:prstGeom prst="round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68680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MPU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6126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MPU dùng để làm gì?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545336"/>
            <a:ext cx="6126480" cy="4855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Chia memory map thành các “region” có permission &amp; attribute khác nhau (PMSA).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Tăng safety: chặn execute-from-RAM (XN), chặn write vào flash, chặn unprivileged access.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Tăng security: kết hợp TrustZone (Secure/NS) với MPU_S/MPU_NS.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Violation ⇒ MemManage fault (hoặc HardFault nếu cấu hình).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12280" y="1234440"/>
            <a:ext cx="480060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0" y="137160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model (Armv8‑M)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040880" y="1691640"/>
            <a:ext cx="438912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6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 region được xác định bởi:</a:t>
            </a:r>
            <a:endParaRPr lang="en-US" sz="126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6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BASE (RBAR): base address + AP + SH + XN</a:t>
            </a:r>
            <a:endParaRPr lang="en-US" sz="126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6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LIMIT (RLAR): limit address + AttrIndx + EN</a:t>
            </a:r>
            <a:endParaRPr lang="en-US" sz="126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6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AttrIndx trỏ tới MAIR0/MAIR1 để lấy memory type/cache policy</a:t>
            </a:r>
            <a:endParaRPr lang="en-US" sz="1260" dirty="0"/>
          </a:p>
          <a:p>
            <a:pPr indent="0" marL="0">
              <a:lnSpc>
                <a:spcPct val="115000"/>
              </a:lnSpc>
              <a:buNone/>
            </a:pPr>
            <a:endParaRPr lang="en-US" sz="126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6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Priority: region number lớn hơn có thể có độ ưu tiên cao hơn (check spec/UM).</a:t>
            </a:r>
            <a:endParaRPr lang="en-US" sz="1260" dirty="0"/>
          </a:p>
        </p:txBody>
      </p:sp>
      <p:sp>
        <p:nvSpPr>
          <p:cNvPr id="11" name="Shape 9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658368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MPU overview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320"/>
          </a:solidFill>
          <a:ln w="12700">
            <a:solidFill>
              <a:srgbClr val="0B13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MPU: register set &amp; programming order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804672"/>
            <a:ext cx="1920240" cy="347472"/>
          </a:xfrm>
          <a:prstGeom prst="round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68680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MPU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722376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371600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DGUG: MPU registers summary (trích)</a:t>
            </a:r>
            <a:endParaRPr lang="en-US" sz="1400" dirty="0"/>
          </a:p>
        </p:txBody>
      </p:sp>
      <p:pic>
        <p:nvPicPr>
          <p:cNvPr id="8" name="Image 0" descr="/mnt/data/cortex_m33_slide_assets/dgug_p285_mpu_summ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3887" y="1691640"/>
            <a:ext cx="3533267" cy="45720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909560" y="1234440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order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909560" y="1545336"/>
            <a:ext cx="3703320" cy="4855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1) Disable MPU (CTRL.ENABLE=0) nếu đang enable.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2) Program MAIR0/MAIR1 (attributes) trước.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3) Set RNR (region number).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4) Program RBAR + RLAR (base/limit/AP/XN/AttrIndx/EN).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5) Enable MPU (CTRL.ENABLE=1) + chọn PRIVDEFENA/HFNMIENA nếu cần.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6) DSB + ISB (hoặc exception return) để đảm bảo hiệu lực.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658368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MPU registers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320"/>
          </a:solidFill>
          <a:ln w="12700">
            <a:solidFill>
              <a:srgbClr val="0B13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MPU_CTRL: ENABLE, PRIVDEFENA, HFNMIENA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804672"/>
            <a:ext cx="1920240" cy="347472"/>
          </a:xfrm>
          <a:prstGeom prst="round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68680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MPU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621792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371600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DGUG: MPU_CTRL bitfield (trích)</a:t>
            </a:r>
            <a:endParaRPr lang="en-US" sz="1400" dirty="0"/>
          </a:p>
        </p:txBody>
      </p:sp>
      <p:pic>
        <p:nvPicPr>
          <p:cNvPr id="8" name="Image 0" descr="/mnt/data/cortex_m33_slide_assets/dgug_p286_mpu_ctr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0967" y="1691640"/>
            <a:ext cx="3533267" cy="45720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903720" y="1234440"/>
            <a:ext cx="4709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Cách dùng các bit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903720" y="1545336"/>
            <a:ext cx="4709160" cy="4855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ENABLE: 1 bật MPU. Nếu ENABLE=1 mà không có region enable ⇒ hệ thống có thể fault, trừ khi PRIVDEFENA=1.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PRIVDEFENA: 1 dùng default memory map làm “background” cho privileged access (giảm rủi ro khi chưa cover hết vùng).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HFNMIENA: 1 bật MPU ngay cả trong HardFault/NMI handler (cẩn thận vì có thể gây lockup nếu region sai).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TrustZone: MPU_CTRL banked giữa Secure/Non-secure.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658368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MPU_CTRL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320"/>
          </a:solidFill>
          <a:ln w="12700">
            <a:solidFill>
              <a:srgbClr val="0B13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MPU region registers: RNR, RBAR, RLAR, MAIR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804672"/>
            <a:ext cx="1920240" cy="347472"/>
          </a:xfrm>
          <a:prstGeom prst="round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68680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MPU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585216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37160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RNR + RBAR (base/AP/SH/XN)</a:t>
            </a:r>
            <a:endParaRPr lang="en-US" sz="1350" dirty="0"/>
          </a:p>
        </p:txBody>
      </p:sp>
      <p:pic>
        <p:nvPicPr>
          <p:cNvPr id="8" name="Image 0" descr="/mnt/data/cortex_m33_slide_assets/dgug_p288_mpu_rbar_rn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97401" y="1691640"/>
            <a:ext cx="1554637" cy="20116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" y="3886200"/>
            <a:ext cx="585216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402336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RLAR (limit/AttrIndx/EN)</a:t>
            </a:r>
            <a:endParaRPr lang="en-US" sz="1350" dirty="0"/>
          </a:p>
        </p:txBody>
      </p:sp>
      <p:pic>
        <p:nvPicPr>
          <p:cNvPr id="11" name="Image 1" descr="/mnt/data/cortex_m33_slide_assets/dgug_p289_mpu_rl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5068" y="4343400"/>
            <a:ext cx="1519305" cy="19659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720840" y="1234440"/>
            <a:ext cx="4892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RBAR fields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720840" y="1545336"/>
            <a:ext cx="4892040" cy="2340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BASE[31:5]: lower inclusive base.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AP[2:1]: access permission (RW/RO, priv/unpriv).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XN: Execute-Never.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SH[4:3]: shareability (Normal memory).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6720840" y="3794760"/>
            <a:ext cx="4892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RLAR + MAIR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720840" y="4105656"/>
            <a:ext cx="4892040" cy="2295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LIMIT[31:5]: upper inclusive limit.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AttrIndx[3:1]: chọn entry trong MAIR0/MAIR1.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EN: enable region.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MAIR: định nghĩa attribute encoding (Device-nGnRnE, WT/WB, alloc policy…).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48640" y="658368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MPU region bitfields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320"/>
          </a:solidFill>
          <a:ln w="12700">
            <a:solidFill>
              <a:srgbClr val="0B13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MPU: ví dụ cấu hình 2 regions (SRAM + Peripheral)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804672"/>
            <a:ext cx="1920240" cy="347472"/>
          </a:xfrm>
          <a:prstGeom prst="round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68680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MPU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 ví dụ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545336"/>
            <a:ext cx="5852160" cy="4855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Region0: SRAM 0x2000_0000–0x2000_FFFF, Normal memory, RW cho priv/unpriv, XN=1.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Region1: Peripheral 0x4000_0000–0x4000_FFFF, Device-nGnRE, RW privileged only, XN=1.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PRIVDEFENA=1 để privileged vẫn truy cập vùng khác theo default map (tùy use-case).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Sau khi cấu hình: DSB+ISB.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46520" y="1234440"/>
            <a:ext cx="5166360" cy="51663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11112" y="1344168"/>
            <a:ext cx="4837176" cy="4946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include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"core_cm33.h"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inline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mpu_example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Disable MPU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MPU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MAIR0.Attr0 = Normal memory (Outer/Inner WBWA, example encoding 0xFF)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MAIR0.Attr1 = Device-nGnRE (encoding 0x04 when Outer=0000 &amp; Device=01)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MPU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MAIR0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0xFFu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&lt;&lt;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0x04u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&lt;&lt;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MPU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MAIR1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Region 0: SRAM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MPU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RNR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MPU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RBAR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0x20000000u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0xFFFFFFE0u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b01u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&lt;&lt;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/*AP: RW any*/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1u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&lt;&lt;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/*XN*/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MPU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RLAR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0x2000FFFFu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0xFFFFFFE0u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0u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&lt;&lt;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/*AttrIndx=0*/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1u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/*EN*/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Region 1: Peripheral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MPU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RNR 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MPU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RBAR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0x40000000u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0xFFFFFFE0u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b00u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&lt;&lt;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/*AP: RW priv*/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1u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&lt;&lt;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/*XN*/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MPU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RLAR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0x4000FFFFu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0xFFFFFFE0u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1u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&lt;&lt;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/*AttrIndx=1*/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1u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</a:t>
            </a:r>
            <a:pPr indent="0" marL="0">
              <a:buNone/>
            </a:pP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Enable + background for privileged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MPU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1u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&lt;&lt;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/*PRIVDEFENA*/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1u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&lt;&lt;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/*ENABLE*/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__DSB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__ISB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658368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MPU example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320"/>
          </a:solidFill>
          <a:ln w="12700">
            <a:solidFill>
              <a:srgbClr val="0B13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Barrier instructions: DMB/DSB/ISB (cực quan trọng khi cấu hình SCS/NVIC/MPU/SAU)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804672"/>
            <a:ext cx="1920240" cy="347472"/>
          </a:xfrm>
          <a:prstGeom prst="round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68680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Barriers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740664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37160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DGUG: ví dụ barrier usage (trích)</a:t>
            </a:r>
            <a:endParaRPr lang="en-US" sz="1400" dirty="0"/>
          </a:p>
        </p:txBody>
      </p:sp>
      <p:pic>
        <p:nvPicPr>
          <p:cNvPr id="8" name="Image 0" descr="/mnt/data/cortex_m33_slide_assets/dgug_p40_barri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85327" y="1691640"/>
            <a:ext cx="3533267" cy="45720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092440" y="123444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092440" y="1545336"/>
            <a:ext cx="3566160" cy="4855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Update vector/VTOR → DMB trước enable exception.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Update MPU/SAU → DSB + ISB (hoặc exception return).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Update CONTROL → ISB ngay sau MSR.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658368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Barrier usage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320"/>
          </a:solidFill>
          <a:ln w="12700">
            <a:solidFill>
              <a:srgbClr val="0B13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 generic vs Renesas device: deviation &amp; CST/STL scope (file 1.pdf)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804672"/>
            <a:ext cx="1920240" cy="347472"/>
          </a:xfrm>
          <a:prstGeom prst="round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68680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Renesas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5806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Deviation (thường gặp)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545336"/>
            <a:ext cx="5806440" cy="2386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Số IRQ, mapping IRQn↔peripheral và số bit priority: do Renesas SoC quyết định.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TrustZone/SAU/IDAU có thể có hoặc không; số MPU regions có thể khác (NS vs S).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Default memory map của “peripheral space” phụ thuộc SoC; MPU attribute cho external memory phụ thuộc bus/caches.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Một số access/alias (Secure/NS) và RAZ/WI behavior phụ thuộc ITNS + security state.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4160520"/>
            <a:ext cx="580644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4297680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CST/STL APIs (trích file 1.pdf)</a:t>
            </a:r>
            <a:endParaRPr lang="en-US" sz="1350" dirty="0"/>
          </a:p>
        </p:txBody>
      </p:sp>
      <p:pic>
        <p:nvPicPr>
          <p:cNvPr id="10" name="Image 0" descr="/mnt/data/cortex_m33_slide_assets/stl_p16_nvic_a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7276" y="4617720"/>
            <a:ext cx="1197408" cy="1691640"/>
          </a:xfrm>
          <a:prstGeom prst="rect">
            <a:avLst/>
          </a:prstGeom>
        </p:spPr>
      </p:pic>
      <p:pic>
        <p:nvPicPr>
          <p:cNvPr id="11" name="Image 1" descr="/mnt/data/cortex_m33_slide_assets/stl_p17_mpu_ap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0476" y="4617720"/>
            <a:ext cx="1197408" cy="16916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629400" y="1234440"/>
            <a:ext cx="5029200" cy="516636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7DD3F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858000" y="1371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Ý nghĩa với CST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6858000" y="1691640"/>
            <a:ext cx="457200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3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file 1.pdf (M33 STL SW User Guide):</a:t>
            </a:r>
            <a:endParaRPr lang="en-US" sz="123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23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Có API riêng để test NVIC registers (M33_STL_NVIC).</a:t>
            </a:r>
            <a:endParaRPr lang="en-US" sz="123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23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Có API riêng để test MPU functionality + registers (M33_STL_MPU).</a:t>
            </a:r>
            <a:endParaRPr lang="en-US" sz="123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23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M33_STL &amp; M33_STL_NVIC không trigger interrupt/exception; MPU test có thể cố ý tạo MemManage fault để validate protection.</a:t>
            </a:r>
            <a:endParaRPr lang="en-US" sz="1230" dirty="0"/>
          </a:p>
          <a:p>
            <a:pPr indent="0" marL="0">
              <a:lnSpc>
                <a:spcPct val="114000"/>
              </a:lnSpc>
              <a:buNone/>
            </a:pPr>
            <a:endParaRPr lang="en-US" sz="123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23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=&gt; Khi làm CST cho Renesas:</a:t>
            </a:r>
            <a:endParaRPr lang="en-US" sz="123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23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Tập trung “register correctness” + “behavior correctness” theo cấu hình device.</a:t>
            </a:r>
            <a:endParaRPr lang="en-US" sz="123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23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Phần “peripheral IRQ behavior” (level/pulse, routing) là SoC-specific, không nằm trong Cortex-M33 TRM.</a:t>
            </a:r>
            <a:endParaRPr lang="en-US" sz="1230" dirty="0"/>
          </a:p>
        </p:txBody>
      </p:sp>
      <p:sp>
        <p:nvSpPr>
          <p:cNvPr id="15" name="Shape 11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48640" y="658368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 vs Renesas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320"/>
          </a:solidFill>
          <a:ln w="12700">
            <a:solidFill>
              <a:srgbClr val="0B13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"/>
            <a:ext cx="1109441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kết &amp; checklist cấu hình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804672"/>
            <a:ext cx="1920240" cy="347472"/>
          </a:xfrm>
          <a:prstGeom prst="round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68680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Bring-up / CST checklist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545336"/>
            <a:ext cx="5669280" cy="4855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Xác nhận cấu hình thực tế: số IRQ (ICTR), số MPU regions (MPU_TYPE), có TrustZone/SAU không.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Core: xác nhận CONTROL/stack pointers, privilege switching; mask regs PRIMASK/BASEPRI/FAULTMASK.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NVIC: set vector, DMB, set priority, clear pending, enable; verify pending/active bits.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MPU: program MAIR → RNR/RBAR/RLAR → CTRL; luôn DSB+ISB sau khi enable/update.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Nếu có TrustZone: luôn tách test Secure vs Non-secure (banked regs + ITNS behavior).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37960" y="1234440"/>
            <a:ext cx="507492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0" y="1371600"/>
            <a:ext cx="4617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Gợi ý tài liệu cần thêm (Renesas)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766560" y="1691640"/>
            <a:ext cx="46177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4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Renesas HW User Manual (R-Car U5Lx):</a:t>
            </a:r>
            <a:endParaRPr lang="en-US" sz="124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4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mapping IRQn cho từng peripheral</a:t>
            </a:r>
            <a:endParaRPr lang="en-US" sz="124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4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số bit priority implement &amp; priority grouping policy</a:t>
            </a:r>
            <a:endParaRPr lang="en-US" sz="124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4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- TrustZone/SAU/IDAU integration details</a:t>
            </a:r>
            <a:endParaRPr lang="en-US" sz="124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4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CMSIS device header của Renesas (IRQn enum, base address).</a:t>
            </a:r>
            <a:endParaRPr lang="en-US" sz="124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4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Safety Manual/Assumptions of Use (nếu triển khai STL/CST cho safety case).</a:t>
            </a:r>
            <a:endParaRPr lang="en-US" sz="1240" dirty="0"/>
          </a:p>
        </p:txBody>
      </p:sp>
      <p:sp>
        <p:nvSpPr>
          <p:cNvPr id="11" name="Shape 9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F6F8FA"/>
          </a:solidFill>
          <a:ln w="12700">
            <a:solidFill>
              <a:srgbClr val="F6F8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6583680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2026-02-24T10:18:30Z</dcterms:created>
  <dcterms:modified xsi:type="dcterms:W3CDTF">2026-02-24T10:18:30Z</dcterms:modified>
</cp:coreProperties>
</file>